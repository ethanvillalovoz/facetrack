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6a1297e065764a3c" /><Relationship Type="http://schemas.openxmlformats.org/officeDocument/2006/relationships/extended-properties" Target="/docProps/app.xml" Id="Rbd50cc69564c4052" /><Relationship Type="http://schemas.openxmlformats.org/officeDocument/2006/relationships/officeDocument" Target="/ppt/presentation.xml" Id="R5b834b95a9eb4bb1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1f32c3c77d25426c"/>
  </p:sldMasterIdLst>
  <p:notesMasterIdLst>
    <p:notesMasterId xmlns:r="http://schemas.openxmlformats.org/officeDocument/2006/relationships" r:id="Rd8ac13a2a8cb4dce"/>
  </p:notesMasterIdLst>
  <p:sldIdLst>
    <p:sldId xmlns:r="http://schemas.openxmlformats.org/officeDocument/2006/relationships" id="256" r:id="Rca3566e6847942ad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34a14063818041ca" /><Relationship Type="http://schemas.openxmlformats.org/officeDocument/2006/relationships/slideMaster" Target="/ppt/slideMasters/slideMaster1.xml" Id="R1f32c3c77d25426c" /><Relationship Type="http://schemas.openxmlformats.org/officeDocument/2006/relationships/notesMaster" Target="/ppt/notesMasters/notesMaster1.xml" Id="Rd8ac13a2a8cb4dce" /><Relationship Type="http://schemas.openxmlformats.org/officeDocument/2006/relationships/presProps" Target="/ppt/presProps.xml" Id="Re8fe9a43cc374680" /><Relationship Type="http://schemas.openxmlformats.org/officeDocument/2006/relationships/tableStyles" Target="/ppt/tableStyles.xml" Id="R9ae34c11fb3a499c" /><Relationship Type="http://schemas.openxmlformats.org/officeDocument/2006/relationships/slide" Target="/ppt/slides/slide1.xml" Id="Rca3566e6847942ad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4b8c595c30bc4b48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1e85927ed64e4fa6" /><Relationship Type="http://schemas.openxmlformats.org/officeDocument/2006/relationships/notesMaster" Target="/ppt/notesMasters/notesMaster1.xml" Id="R69f49c2f030c47d4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a4b4bc3e98d4f93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4a62063c0be04af0" /><Relationship Type="http://schemas.openxmlformats.org/officeDocument/2006/relationships/slideLayout" Target="/ppt/slideLayouts/slideLayout1.xml" Id="R9f3966a7123e4615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9f3966a7123e4615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9544b9b3de849e3" /><Relationship Type="http://schemas.openxmlformats.org/officeDocument/2006/relationships/image" Target="/ppt/media/image.png" Id="R42cd398a9e794775" /><Relationship Type="http://schemas.openxmlformats.org/officeDocument/2006/relationships/notesSlide" Target="/ppt/notesSlides/notesSlide1.xml" Id="Rbe3e40db4aa64b8a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6F5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3" name="figure-title">
            <a:extLst xmlns:a="http://schemas.openxmlformats.org/drawingml/2006/main">
              <a:ext uri="{FF2B5EF4-FFF2-40B4-BE49-F238E27FC236}">
                <a16:creationId xmlns:a16="http://schemas.microsoft.com/office/drawing/2014/main" id="{82A78FB9-6581-4D8D-A566-A055DB620B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28600"/>
            <a:ext cx="113919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191B1A"/>
                </a:solidFill>
              </a:defRPr>
            </a:pPr>
            <a:r>
              <a:rPr sz="2325" b="1">
                <a:solidFill>
                  <a:srgbClr val="191B1A"/>
                </a:solidFill>
              </a:rPr>
              <a:t>FaceTrack keeps each attendance decision tied to its detection and distance</a:t>
            </a:r>
          </a:p>
        </p:txBody>
      </p:sp>
      <p:sp>
        <p:nvSpPr>
          <p:cNvPr id="2" name="figure-subtitle">
            <a:extLst xmlns:a="http://schemas.openxmlformats.org/drawingml/2006/main">
              <a:ext uri="{FF2B5EF4-FFF2-40B4-BE49-F238E27FC236}">
                <a16:creationId xmlns:a16="http://schemas.microsoft.com/office/drawing/2014/main" id="{423001C6-9E19-41B5-A158-12D2461292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95325"/>
            <a:ext cx="105727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76C69"/>
                </a:solidFill>
              </a:defRPr>
            </a:pPr>
            <a:r>
              <a:rPr sz="1275" b="0">
                <a:solidFill>
                  <a:srgbClr val="676C69"/>
                </a:solidFill>
              </a:rPr>
              <a:t>The public fixture shows every outcome; local code keeps the ledger and frame lifecycle explicit.</a:t>
            </a:r>
          </a:p>
        </p:txBody>
      </p:sp>
      <p:sp>
        <p:nvSpPr>
          <p:cNvPr id="3" name="title-rule">
            <a:extLst xmlns:a="http://schemas.openxmlformats.org/drawingml/2006/main">
              <a:ext uri="{FF2B5EF4-FFF2-40B4-BE49-F238E27FC236}">
                <a16:creationId xmlns:a16="http://schemas.microsoft.com/office/drawing/2014/main" id="{BAB9127C-090F-4363-B49B-62335A3DC3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057275"/>
            <a:ext cx="11391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191B1A"/>
            </a:solidFill>
            <a:prstDash val="solid"/>
          </a:ln>
        </p:spPr>
      </p:sp>
      <p:sp>
        <p:nvSpPr>
          <p:cNvPr id="4" name="trace-label">
            <a:extLst xmlns:a="http://schemas.openxmlformats.org/drawingml/2006/main">
              <a:ext uri="{FF2B5EF4-FFF2-40B4-BE49-F238E27FC236}">
                <a16:creationId xmlns:a16="http://schemas.microsoft.com/office/drawing/2014/main" id="{16B80265-2A3C-4DD9-A8A3-03C9DB47CB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238250"/>
            <a:ext cx="2857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8E0B2D"/>
                </a:solidFill>
              </a:defRPr>
            </a:pPr>
            <a:r>
              <a:rPr sz="1050" b="1">
                <a:solidFill>
                  <a:srgbClr val="8E0B2D"/>
                </a:solidFill>
              </a:rPr>
              <a:t>COMPLETE DECISION TRACE</a:t>
            </a:r>
          </a:p>
        </p:txBody>
      </p:sp>
      <p:sp>
        <p:nvSpPr>
          <p:cNvPr id="5" name="distance-label">
            <a:extLst xmlns:a="http://schemas.openxmlformats.org/drawingml/2006/main">
              <a:ext uri="{FF2B5EF4-FFF2-40B4-BE49-F238E27FC236}">
                <a16:creationId xmlns:a16="http://schemas.microsoft.com/office/drawing/2014/main" id="{E97505F6-F266-4C38-AEA6-BACA9F5BEB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1238250"/>
            <a:ext cx="2381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8E0B2D"/>
                </a:solidFill>
              </a:defRPr>
            </a:pPr>
            <a:r>
              <a:rPr sz="1050" b="1">
                <a:solidFill>
                  <a:srgbClr val="8E0B2D"/>
                </a:solidFill>
              </a:rPr>
              <a:t>DISTANCE THRESHOLD</a:t>
            </a:r>
          </a:p>
        </p:txBody>
      </p:sp>
      <p:sp>
        <p:nvSpPr>
          <p:cNvPr id="6" name="workspace-frame">
            <a:extLst xmlns:a="http://schemas.openxmlformats.org/drawingml/2006/main">
              <a:ext uri="{FF2B5EF4-FFF2-40B4-BE49-F238E27FC236}">
                <a16:creationId xmlns:a16="http://schemas.microsoft.com/office/drawing/2014/main" id="{472D14EB-8CD0-4465-9B86-8B8BA7B5FC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504950"/>
            <a:ext cx="7334250" cy="3219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191B1A"/>
            </a:solidFill>
            <a:prstDash val="solid"/>
          </a:ln>
        </p:spPr>
      </p:sp>
      <p:pic>
        <p:nvPicPr>
          <p:cNvPr id="5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2cd398a9e794775"/>
          <a:stretch xmlns:a="http://schemas.openxmlformats.org/drawingml/2006/main"/>
        </p:blipFill>
        <p:spPr>
          <a:xfrm xmlns:a="http://schemas.openxmlformats.org/drawingml/2006/main">
            <a:off x="440436" y="1524000"/>
            <a:ext cx="7253478" cy="3181350"/>
          </a:xfrm>
          <a:prstGeom xmlns:a="http://schemas.openxmlformats.org/drawingml/2006/main" prst="rect">
            <a:avLst/>
          </a:prstGeom>
        </p:spPr>
      </p:pic>
      <p:sp>
        <p:nvSpPr>
          <p:cNvPr id="8" name="workspace-caption">
            <a:extLst xmlns:a="http://schemas.openxmlformats.org/drawingml/2006/main">
              <a:ext uri="{FF2B5EF4-FFF2-40B4-BE49-F238E27FC236}">
                <a16:creationId xmlns:a16="http://schemas.microsoft.com/office/drawing/2014/main" id="{EFD06FD1-037B-497F-B000-82EE8FA581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791075"/>
            <a:ext cx="7334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676C69"/>
                </a:solidFill>
              </a:defRPr>
            </a:pPr>
            <a:r>
              <a:rPr sz="1050" b="0">
                <a:solidFill>
                  <a:srgbClr val="676C69"/>
                </a:solidFill>
              </a:rPr>
              <a:t>Bundled deterministic demo · fictional classroom image · all four detections shown</a:t>
            </a:r>
          </a:p>
        </p:txBody>
      </p:sp>
      <p:sp>
        <p:nvSpPr>
          <p:cNvPr id="9" name="distance-title">
            <a:extLst xmlns:a="http://schemas.openxmlformats.org/drawingml/2006/main">
              <a:ext uri="{FF2B5EF4-FFF2-40B4-BE49-F238E27FC236}">
                <a16:creationId xmlns:a16="http://schemas.microsoft.com/office/drawing/2014/main" id="{6693133D-5B86-4AA9-ABD7-83E702FD79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1524000"/>
            <a:ext cx="1809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91B1A"/>
                </a:solidFill>
              </a:defRPr>
            </a:pPr>
            <a:r>
              <a:rPr sz="1425" b="1">
                <a:solidFill>
                  <a:srgbClr val="191B1A"/>
                </a:solidFill>
              </a:rPr>
              <a:t>Face distance</a:t>
            </a:r>
          </a:p>
        </p:txBody>
      </p:sp>
      <p:sp>
        <p:nvSpPr>
          <p:cNvPr id="10" name="distance-note">
            <a:extLst xmlns:a="http://schemas.openxmlformats.org/drawingml/2006/main">
              <a:ext uri="{FF2B5EF4-FFF2-40B4-BE49-F238E27FC236}">
                <a16:creationId xmlns:a16="http://schemas.microsoft.com/office/drawing/2014/main" id="{8AE7DA9D-1823-4479-A3A8-63F3070781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1552575"/>
            <a:ext cx="21717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76C69"/>
                </a:solidFill>
              </a:defRPr>
            </a:pPr>
            <a:r>
              <a:rPr sz="975" b="0">
                <a:solidFill>
                  <a:srgbClr val="676C69"/>
                </a:solidFill>
              </a:rPr>
              <a:t>lower is closer · not a probability</a:t>
            </a:r>
          </a:p>
        </p:txBody>
      </p:sp>
      <p:sp>
        <p:nvSpPr>
          <p:cNvPr id="11" name="unknown-region">
            <a:extLst xmlns:a="http://schemas.openxmlformats.org/drawingml/2006/main">
              <a:ext uri="{FF2B5EF4-FFF2-40B4-BE49-F238E27FC236}">
                <a16:creationId xmlns:a16="http://schemas.microsoft.com/office/drawing/2014/main" id="{AF4C9784-BF7D-4D7C-921E-434C75CDE2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87100" y="1876425"/>
            <a:ext cx="514350" cy="1333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E9D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threshold-line">
            <a:extLst xmlns:a="http://schemas.openxmlformats.org/drawingml/2006/main">
              <a:ext uri="{FF2B5EF4-FFF2-40B4-BE49-F238E27FC236}">
                <a16:creationId xmlns:a16="http://schemas.microsoft.com/office/drawing/2014/main" id="{B66DCDC5-0D8C-49EB-9E5A-9BC15D6F4F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87100" y="1781175"/>
            <a:ext cx="0" cy="15811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7145">
            <a:solidFill>
              <a:srgbClr val="8E0B2D"/>
            </a:solidFill>
            <a:prstDash val="dash"/>
          </a:ln>
        </p:spPr>
      </p:sp>
      <p:sp>
        <p:nvSpPr>
          <p:cNvPr id="13" name="threshold-label">
            <a:extLst xmlns:a="http://schemas.openxmlformats.org/drawingml/2006/main">
              <a:ext uri="{FF2B5EF4-FFF2-40B4-BE49-F238E27FC236}">
                <a16:creationId xmlns:a16="http://schemas.microsoft.com/office/drawing/2014/main" id="{73A9452F-1BEB-40BA-892C-EA742AC5DB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87050" y="1733550"/>
            <a:ext cx="8001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8E0B2D"/>
                </a:solidFill>
              </a:defRPr>
            </a:pPr>
            <a:r>
              <a:rPr sz="1050" b="1">
                <a:solidFill>
                  <a:srgbClr val="8E0B2D"/>
                </a:solidFill>
              </a:rPr>
              <a:t>τ = 0.48</a:t>
            </a:r>
          </a:p>
        </p:txBody>
      </p:sp>
      <p:sp>
        <p:nvSpPr>
          <p:cNvPr id="14" name="match-1-name">
            <a:extLst xmlns:a="http://schemas.openxmlformats.org/drawingml/2006/main">
              <a:ext uri="{FF2B5EF4-FFF2-40B4-BE49-F238E27FC236}">
                <a16:creationId xmlns:a16="http://schemas.microsoft.com/office/drawing/2014/main" id="{3283DCC1-A19A-4790-B7B4-561B2A7CA1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2019300"/>
            <a:ext cx="8763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91B1A"/>
                </a:solidFill>
              </a:defRPr>
            </a:pPr>
            <a:r>
              <a:rPr sz="1200" b="1">
                <a:solidFill>
                  <a:srgbClr val="191B1A"/>
                </a:solidFill>
              </a:rPr>
              <a:t>1  Ava</a:t>
            </a:r>
          </a:p>
        </p:txBody>
      </p:sp>
      <p:sp>
        <p:nvSpPr>
          <p:cNvPr id="15" name="match-1-track">
            <a:extLst xmlns:a="http://schemas.openxmlformats.org/drawingml/2006/main">
              <a:ext uri="{FF2B5EF4-FFF2-40B4-BE49-F238E27FC236}">
                <a16:creationId xmlns:a16="http://schemas.microsoft.com/office/drawing/2014/main" id="{2AEBEA0D-49B7-4E3F-AED4-4E32F59D17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2143125"/>
            <a:ext cx="2571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C9CBC8"/>
            </a:solidFill>
            <a:prstDash val="solid"/>
          </a:ln>
        </p:spPr>
      </p:sp>
      <p:sp>
        <p:nvSpPr>
          <p:cNvPr id="16" name="match-1-value-line">
            <a:extLst xmlns:a="http://schemas.openxmlformats.org/drawingml/2006/main">
              <a:ext uri="{FF2B5EF4-FFF2-40B4-BE49-F238E27FC236}">
                <a16:creationId xmlns:a16="http://schemas.microsoft.com/office/drawing/2014/main" id="{B8085830-E949-4E2F-ABAC-16AA68E10C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2143125"/>
            <a:ext cx="1204436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2E7D46"/>
            </a:solidFill>
            <a:prstDash val="solid"/>
          </a:ln>
        </p:spPr>
      </p:sp>
      <p:sp>
        <p:nvSpPr>
          <p:cNvPr id="17" name="match-1-dot">
            <a:extLst xmlns:a="http://schemas.openxmlformats.org/drawingml/2006/main">
              <a:ext uri="{FF2B5EF4-FFF2-40B4-BE49-F238E27FC236}">
                <a16:creationId xmlns:a16="http://schemas.microsoft.com/office/drawing/2014/main" id="{D21A88F9-C146-427B-9993-4DD234C456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67461" y="2076450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E7D46"/>
          </a:solidFill>
          <a:ln xmlns:a="http://schemas.openxmlformats.org/drawingml/2006/main" w="19050">
            <a:solidFill>
              <a:srgbClr val="FFFFFF"/>
            </a:solidFill>
            <a:prstDash val="solid"/>
          </a:ln>
        </p:spPr>
      </p:sp>
      <p:sp>
        <p:nvSpPr>
          <p:cNvPr id="18" name="match-1-value">
            <a:extLst xmlns:a="http://schemas.openxmlformats.org/drawingml/2006/main">
              <a:ext uri="{FF2B5EF4-FFF2-40B4-BE49-F238E27FC236}">
                <a16:creationId xmlns:a16="http://schemas.microsoft.com/office/drawing/2014/main" id="{779E772A-1763-4399-A61D-A9B9BB00AF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19861" y="2019300"/>
            <a:ext cx="552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2E7D46"/>
                </a:solidFill>
              </a:defRPr>
            </a:pPr>
            <a:r>
              <a:rPr sz="1050" b="1">
                <a:solidFill>
                  <a:srgbClr val="2E7D46"/>
                </a:solidFill>
              </a:rPr>
              <a:t>0.281</a:t>
            </a:r>
          </a:p>
        </p:txBody>
      </p:sp>
      <p:sp>
        <p:nvSpPr>
          <p:cNvPr id="19" name="match-2-name">
            <a:extLst xmlns:a="http://schemas.openxmlformats.org/drawingml/2006/main">
              <a:ext uri="{FF2B5EF4-FFF2-40B4-BE49-F238E27FC236}">
                <a16:creationId xmlns:a16="http://schemas.microsoft.com/office/drawing/2014/main" id="{4851400A-09BB-435E-BA8D-97E3DCA23F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2447925"/>
            <a:ext cx="8763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91B1A"/>
                </a:solidFill>
              </a:defRPr>
            </a:pPr>
            <a:r>
              <a:rPr sz="1200" b="1">
                <a:solidFill>
                  <a:srgbClr val="191B1A"/>
                </a:solidFill>
              </a:rPr>
              <a:t>2  Jordan</a:t>
            </a:r>
          </a:p>
        </p:txBody>
      </p:sp>
      <p:sp>
        <p:nvSpPr>
          <p:cNvPr id="20" name="match-2-track">
            <a:extLst xmlns:a="http://schemas.openxmlformats.org/drawingml/2006/main">
              <a:ext uri="{FF2B5EF4-FFF2-40B4-BE49-F238E27FC236}">
                <a16:creationId xmlns:a16="http://schemas.microsoft.com/office/drawing/2014/main" id="{5501F7DF-41DF-4E8B-B83B-4FA0A2526F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2571750"/>
            <a:ext cx="2571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C9CBC8"/>
            </a:solidFill>
            <a:prstDash val="solid"/>
          </a:ln>
        </p:spPr>
      </p:sp>
      <p:sp>
        <p:nvSpPr>
          <p:cNvPr id="21" name="match-2-value-line">
            <a:extLst xmlns:a="http://schemas.openxmlformats.org/drawingml/2006/main">
              <a:ext uri="{FF2B5EF4-FFF2-40B4-BE49-F238E27FC236}">
                <a16:creationId xmlns:a16="http://schemas.microsoft.com/office/drawing/2014/main" id="{ECF2F6DE-8636-4A05-BD7D-2659A71923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2571750"/>
            <a:ext cx="1345882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2E7D46"/>
            </a:solidFill>
            <a:prstDash val="solid"/>
          </a:ln>
        </p:spPr>
      </p:sp>
      <p:sp>
        <p:nvSpPr>
          <p:cNvPr id="22" name="match-2-dot">
            <a:extLst xmlns:a="http://schemas.openxmlformats.org/drawingml/2006/main">
              <a:ext uri="{FF2B5EF4-FFF2-40B4-BE49-F238E27FC236}">
                <a16:creationId xmlns:a16="http://schemas.microsoft.com/office/drawing/2014/main" id="{FAC3BFAF-0C6C-4937-B67B-8C4A7048C1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08908" y="2505075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E7D46"/>
          </a:solidFill>
          <a:ln xmlns:a="http://schemas.openxmlformats.org/drawingml/2006/main" w="19050">
            <a:solidFill>
              <a:srgbClr val="FFFFFF"/>
            </a:solidFill>
            <a:prstDash val="solid"/>
          </a:ln>
        </p:spPr>
      </p:sp>
      <p:sp>
        <p:nvSpPr>
          <p:cNvPr id="23" name="match-2-value">
            <a:extLst xmlns:a="http://schemas.openxmlformats.org/drawingml/2006/main">
              <a:ext uri="{FF2B5EF4-FFF2-40B4-BE49-F238E27FC236}">
                <a16:creationId xmlns:a16="http://schemas.microsoft.com/office/drawing/2014/main" id="{B8CE1A60-4B44-4857-935A-EA37003FF2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61308" y="2447925"/>
            <a:ext cx="552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2E7D46"/>
                </a:solidFill>
              </a:defRPr>
            </a:pPr>
            <a:r>
              <a:rPr sz="1050" b="1">
                <a:solidFill>
                  <a:srgbClr val="2E7D46"/>
                </a:solidFill>
              </a:rPr>
              <a:t>0.314</a:t>
            </a:r>
          </a:p>
        </p:txBody>
      </p:sp>
      <p:sp>
        <p:nvSpPr>
          <p:cNvPr id="24" name="match-3-name">
            <a:extLst xmlns:a="http://schemas.openxmlformats.org/drawingml/2006/main">
              <a:ext uri="{FF2B5EF4-FFF2-40B4-BE49-F238E27FC236}">
                <a16:creationId xmlns:a16="http://schemas.microsoft.com/office/drawing/2014/main" id="{5B9FD072-D4E7-4080-A635-18626D0791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2876550"/>
            <a:ext cx="8763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91B1A"/>
                </a:solidFill>
              </a:defRPr>
            </a:pPr>
            <a:r>
              <a:rPr sz="1200" b="1">
                <a:solidFill>
                  <a:srgbClr val="191B1A"/>
                </a:solidFill>
              </a:rPr>
              <a:t>3  Mina</a:t>
            </a:r>
          </a:p>
        </p:txBody>
      </p:sp>
      <p:sp>
        <p:nvSpPr>
          <p:cNvPr id="25" name="match-3-track">
            <a:extLst xmlns:a="http://schemas.openxmlformats.org/drawingml/2006/main">
              <a:ext uri="{FF2B5EF4-FFF2-40B4-BE49-F238E27FC236}">
                <a16:creationId xmlns:a16="http://schemas.microsoft.com/office/drawing/2014/main" id="{FD20AB18-AA41-4F64-9C74-EA71905F33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3000375"/>
            <a:ext cx="2571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C9CBC8"/>
            </a:solidFill>
            <a:prstDash val="solid"/>
          </a:ln>
        </p:spPr>
      </p:sp>
      <p:sp>
        <p:nvSpPr>
          <p:cNvPr id="26" name="match-3-value-line">
            <a:extLst xmlns:a="http://schemas.openxmlformats.org/drawingml/2006/main">
              <a:ext uri="{FF2B5EF4-FFF2-40B4-BE49-F238E27FC236}">
                <a16:creationId xmlns:a16="http://schemas.microsoft.com/office/drawing/2014/main" id="{74C539C4-A7CE-4BE7-9338-C8E68A8416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3000375"/>
            <a:ext cx="1444466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2E7D46"/>
            </a:solidFill>
            <a:prstDash val="solid"/>
          </a:ln>
        </p:spPr>
      </p:sp>
      <p:sp>
        <p:nvSpPr>
          <p:cNvPr id="27" name="match-3-dot">
            <a:extLst xmlns:a="http://schemas.openxmlformats.org/drawingml/2006/main">
              <a:ext uri="{FF2B5EF4-FFF2-40B4-BE49-F238E27FC236}">
                <a16:creationId xmlns:a16="http://schemas.microsoft.com/office/drawing/2014/main" id="{28544D9D-B900-4DA7-A329-BD8926CBEE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07491" y="2933700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E7D46"/>
          </a:solidFill>
          <a:ln xmlns:a="http://schemas.openxmlformats.org/drawingml/2006/main" w="19050">
            <a:solidFill>
              <a:srgbClr val="FFFFFF"/>
            </a:solidFill>
            <a:prstDash val="solid"/>
          </a:ln>
        </p:spPr>
      </p:sp>
      <p:sp>
        <p:nvSpPr>
          <p:cNvPr id="28" name="match-3-value">
            <a:extLst xmlns:a="http://schemas.openxmlformats.org/drawingml/2006/main">
              <a:ext uri="{FF2B5EF4-FFF2-40B4-BE49-F238E27FC236}">
                <a16:creationId xmlns:a16="http://schemas.microsoft.com/office/drawing/2014/main" id="{C6B98E64-66A3-46BB-9505-9888D20B20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59891" y="2876550"/>
            <a:ext cx="552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2E7D46"/>
                </a:solidFill>
              </a:defRPr>
            </a:pPr>
            <a:r>
              <a:rPr sz="1050" b="1">
                <a:solidFill>
                  <a:srgbClr val="2E7D46"/>
                </a:solidFill>
              </a:rPr>
              <a:t>0.337</a:t>
            </a:r>
          </a:p>
        </p:txBody>
      </p:sp>
      <p:sp>
        <p:nvSpPr>
          <p:cNvPr id="29" name="distance-axis">
            <a:extLst xmlns:a="http://schemas.openxmlformats.org/drawingml/2006/main">
              <a:ext uri="{FF2B5EF4-FFF2-40B4-BE49-F238E27FC236}">
                <a16:creationId xmlns:a16="http://schemas.microsoft.com/office/drawing/2014/main" id="{83CC6871-B483-47C7-940D-D357AE048A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3343275"/>
            <a:ext cx="2571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191B1A"/>
            </a:solidFill>
            <a:prstDash val="solid"/>
          </a:ln>
        </p:spPr>
      </p:sp>
      <p:sp>
        <p:nvSpPr>
          <p:cNvPr id="30" name="axis-zero">
            <a:extLst xmlns:a="http://schemas.openxmlformats.org/drawingml/2006/main">
              <a:ext uri="{FF2B5EF4-FFF2-40B4-BE49-F238E27FC236}">
                <a16:creationId xmlns:a16="http://schemas.microsoft.com/office/drawing/2014/main" id="{03324444-5DC6-4D8D-A7FD-8499D1C701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0150" y="3390900"/>
            <a:ext cx="41910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676C69"/>
                </a:solidFill>
              </a:defRPr>
            </a:pPr>
            <a:r>
              <a:rPr sz="900" b="0">
                <a:solidFill>
                  <a:srgbClr val="676C69"/>
                </a:solidFill>
              </a:rPr>
              <a:t>0.00</a:t>
            </a:r>
          </a:p>
        </p:txBody>
      </p:sp>
      <p:sp>
        <p:nvSpPr>
          <p:cNvPr id="31" name="axis-threshold">
            <a:extLst xmlns:a="http://schemas.openxmlformats.org/drawingml/2006/main">
              <a:ext uri="{FF2B5EF4-FFF2-40B4-BE49-F238E27FC236}">
                <a16:creationId xmlns:a16="http://schemas.microsoft.com/office/drawing/2014/main" id="{301D2138-BE5B-4A05-AE78-A36FB20D49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3390900"/>
            <a:ext cx="45720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8E0B2D"/>
                </a:solidFill>
              </a:defRPr>
            </a:pPr>
            <a:r>
              <a:rPr sz="900" b="1">
                <a:solidFill>
                  <a:srgbClr val="8E0B2D"/>
                </a:solidFill>
              </a:rPr>
              <a:t>0.48</a:t>
            </a:r>
          </a:p>
        </p:txBody>
      </p:sp>
      <p:sp>
        <p:nvSpPr>
          <p:cNvPr id="32" name="axis-max">
            <a:extLst xmlns:a="http://schemas.openxmlformats.org/drawingml/2006/main">
              <a:ext uri="{FF2B5EF4-FFF2-40B4-BE49-F238E27FC236}">
                <a16:creationId xmlns:a16="http://schemas.microsoft.com/office/drawing/2014/main" id="{6C779973-2EFA-4B8A-8473-AE812D7B4E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01400" y="3390900"/>
            <a:ext cx="57150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A86508"/>
                </a:solidFill>
              </a:defRPr>
            </a:pPr>
            <a:r>
              <a:rPr sz="900" b="0">
                <a:solidFill>
                  <a:srgbClr val="A86508"/>
                </a:solidFill>
              </a:rPr>
              <a:t>&gt;0.48</a:t>
            </a:r>
          </a:p>
        </p:txBody>
      </p:sp>
      <p:sp>
        <p:nvSpPr>
          <p:cNvPr id="33" name="unknown-marker">
            <a:extLst xmlns:a="http://schemas.openxmlformats.org/drawingml/2006/main">
              <a:ext uri="{FF2B5EF4-FFF2-40B4-BE49-F238E27FC236}">
                <a16:creationId xmlns:a16="http://schemas.microsoft.com/office/drawing/2014/main" id="{D7A39890-5FC0-4C4D-A795-28C392D4BD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3714750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4E9D8"/>
          </a:solidFill>
          <a:ln xmlns:a="http://schemas.openxmlformats.org/drawingml/2006/main" w="14288">
            <a:solidFill>
              <a:srgbClr val="A86508"/>
            </a:solidFill>
            <a:prstDash val="solid"/>
          </a:ln>
        </p:spPr>
      </p:sp>
      <p:sp>
        <p:nvSpPr>
          <p:cNvPr id="34" name="unknown-question">
            <a:extLst xmlns:a="http://schemas.openxmlformats.org/drawingml/2006/main">
              <a:ext uri="{FF2B5EF4-FFF2-40B4-BE49-F238E27FC236}">
                <a16:creationId xmlns:a16="http://schemas.microsoft.com/office/drawing/2014/main" id="{4BEB59FC-EE52-4D0B-9A5C-2ED37C9860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3752850"/>
            <a:ext cx="3238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A86508"/>
                </a:solidFill>
              </a:defRPr>
            </a:pPr>
            <a:r>
              <a:rPr sz="1350" b="1">
                <a:solidFill>
                  <a:srgbClr val="A86508"/>
                </a:solidFill>
              </a:rPr>
              <a:t>?</a:t>
            </a:r>
          </a:p>
        </p:txBody>
      </p:sp>
      <p:sp>
        <p:nvSpPr>
          <p:cNvPr id="35" name="unknown-title">
            <a:extLst xmlns:a="http://schemas.openxmlformats.org/drawingml/2006/main">
              <a:ext uri="{FF2B5EF4-FFF2-40B4-BE49-F238E27FC236}">
                <a16:creationId xmlns:a16="http://schemas.microsoft.com/office/drawing/2014/main" id="{69EB4356-25F7-4BAB-A8DB-0228084C1D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400" y="3686175"/>
            <a:ext cx="2667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91B1A"/>
                </a:solidFill>
              </a:defRPr>
            </a:pPr>
            <a:r>
              <a:rPr sz="1275" b="1">
                <a:solidFill>
                  <a:srgbClr val="191B1A"/>
                </a:solidFill>
              </a:rPr>
              <a:t>Detection 4 stays unknown</a:t>
            </a:r>
          </a:p>
        </p:txBody>
      </p:sp>
      <p:sp>
        <p:nvSpPr>
          <p:cNvPr id="36" name="unknown-copy">
            <a:extLst xmlns:a="http://schemas.openxmlformats.org/drawingml/2006/main">
              <a:ext uri="{FF2B5EF4-FFF2-40B4-BE49-F238E27FC236}">
                <a16:creationId xmlns:a16="http://schemas.microsoft.com/office/drawing/2014/main" id="{29A66E67-321E-4B3A-8906-720A5CEC34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400" y="3952875"/>
            <a:ext cx="3048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76C69"/>
                </a:solidFill>
              </a:defRPr>
            </a:pPr>
            <a:r>
              <a:rPr sz="1050" b="0">
                <a:solidFill>
                  <a:srgbClr val="676C69"/>
                </a:solidFill>
              </a:rPr>
              <a:t>Outcome retained; fixture does not store its distance.</a:t>
            </a:r>
          </a:p>
        </p:txBody>
      </p:sp>
      <p:sp>
        <p:nvSpPr>
          <p:cNvPr id="37" name="retention-divider">
            <a:extLst xmlns:a="http://schemas.openxmlformats.org/drawingml/2006/main">
              <a:ext uri="{FF2B5EF4-FFF2-40B4-BE49-F238E27FC236}">
                <a16:creationId xmlns:a16="http://schemas.microsoft.com/office/drawing/2014/main" id="{BD156F7E-D4A1-4533-8F95-5540E58486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4324350"/>
            <a:ext cx="36957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C9CBC8"/>
            </a:solidFill>
            <a:prstDash val="solid"/>
          </a:ln>
        </p:spPr>
      </p:sp>
      <p:sp>
        <p:nvSpPr>
          <p:cNvPr id="38" name="retention-label">
            <a:extLst xmlns:a="http://schemas.openxmlformats.org/drawingml/2006/main">
              <a:ext uri="{FF2B5EF4-FFF2-40B4-BE49-F238E27FC236}">
                <a16:creationId xmlns:a16="http://schemas.microsoft.com/office/drawing/2014/main" id="{F0D111EF-8FEC-401F-8354-2A4B46F743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4438650"/>
            <a:ext cx="1714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8E0B2D"/>
                </a:solidFill>
              </a:defRPr>
            </a:pPr>
            <a:r>
              <a:rPr sz="1050" b="1">
                <a:solidFill>
                  <a:srgbClr val="8E0B2D"/>
                </a:solidFill>
              </a:rPr>
              <a:t>LOCAL RETENTION</a:t>
            </a:r>
          </a:p>
        </p:txBody>
      </p:sp>
      <p:sp>
        <p:nvSpPr>
          <p:cNvPr id="39" name="ledger-rule">
            <a:extLst xmlns:a="http://schemas.openxmlformats.org/drawingml/2006/main">
              <a:ext uri="{FF2B5EF4-FFF2-40B4-BE49-F238E27FC236}">
                <a16:creationId xmlns:a16="http://schemas.microsoft.com/office/drawing/2014/main" id="{25163C33-B4B6-4D45-A853-E4D2716757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4686300"/>
            <a:ext cx="7810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91B1A"/>
                </a:solidFill>
              </a:defRPr>
            </a:pPr>
            <a:r>
              <a:rPr sz="1125" b="1">
                <a:solidFill>
                  <a:srgbClr val="191B1A"/>
                </a:solidFill>
              </a:rPr>
              <a:t>Ledger</a:t>
            </a:r>
          </a:p>
        </p:txBody>
      </p:sp>
      <p:sp>
        <p:nvSpPr>
          <p:cNvPr id="40" name="ledger-code">
            <a:extLst xmlns:a="http://schemas.openxmlformats.org/drawingml/2006/main">
              <a:ext uri="{FF2B5EF4-FFF2-40B4-BE49-F238E27FC236}">
                <a16:creationId xmlns:a16="http://schemas.microsoft.com/office/drawing/2014/main" id="{FAC5DD19-2F3B-4B22-9C67-358BE305A6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4686300"/>
            <a:ext cx="26860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91B1A"/>
                </a:solidFill>
              </a:defRPr>
            </a:pPr>
            <a:r>
              <a:rPr sz="1050" b="0">
                <a:solidFill>
                  <a:srgbClr val="191B1A"/>
                </a:solidFill>
              </a:rPr>
              <a:t>UNIQUE(name, attendance_date)</a:t>
            </a:r>
          </a:p>
        </p:txBody>
      </p:sp>
      <p:sp>
        <p:nvSpPr>
          <p:cNvPr id="41" name="frame-rule">
            <a:extLst xmlns:a="http://schemas.openxmlformats.org/drawingml/2006/main">
              <a:ext uri="{FF2B5EF4-FFF2-40B4-BE49-F238E27FC236}">
                <a16:creationId xmlns:a16="http://schemas.microsoft.com/office/drawing/2014/main" id="{99BB2925-CFEA-4203-901A-A5CB4F981C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4933950"/>
            <a:ext cx="7810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91B1A"/>
                </a:solidFill>
              </a:defRPr>
            </a:pPr>
            <a:r>
              <a:rPr sz="1125" b="1">
                <a:solidFill>
                  <a:srgbClr val="191B1A"/>
                </a:solidFill>
              </a:rPr>
              <a:t>Frames</a:t>
            </a:r>
          </a:p>
        </p:txBody>
      </p:sp>
      <p:sp>
        <p:nvSpPr>
          <p:cNvPr id="42" name="frame-code">
            <a:extLst xmlns:a="http://schemas.openxmlformats.org/drawingml/2006/main">
              <a:ext uri="{FF2B5EF4-FFF2-40B4-BE49-F238E27FC236}">
                <a16:creationId xmlns:a16="http://schemas.microsoft.com/office/drawing/2014/main" id="{FE3F0032-1804-4D44-95AC-44DBF1F516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4933950"/>
            <a:ext cx="26860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91B1A"/>
                </a:solidFill>
              </a:defRPr>
            </a:pPr>
            <a:r>
              <a:rPr sz="1050" b="0">
                <a:solidFill>
                  <a:srgbClr val="191B1A"/>
                </a:solidFill>
              </a:rPr>
              <a:t>finally → delete staged files</a:t>
            </a:r>
          </a:p>
        </p:txBody>
      </p:sp>
      <p:sp>
        <p:nvSpPr>
          <p:cNvPr id="43" name="boundary-top-rule">
            <a:extLst xmlns:a="http://schemas.openxmlformats.org/drawingml/2006/main">
              <a:ext uri="{FF2B5EF4-FFF2-40B4-BE49-F238E27FC236}">
                <a16:creationId xmlns:a16="http://schemas.microsoft.com/office/drawing/2014/main" id="{691F5BCD-DA8B-4ACD-8D2D-D1250422CF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324475"/>
            <a:ext cx="11391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191B1A"/>
            </a:solidFill>
            <a:prstDash val="solid"/>
          </a:ln>
        </p:spPr>
      </p:sp>
      <p:sp>
        <p:nvSpPr>
          <p:cNvPr id="44" name="demo-boundary-heading">
            <a:extLst xmlns:a="http://schemas.openxmlformats.org/drawingml/2006/main">
              <a:ext uri="{FF2B5EF4-FFF2-40B4-BE49-F238E27FC236}">
                <a16:creationId xmlns:a16="http://schemas.microsoft.com/office/drawing/2014/main" id="{7EBAC662-3690-42CB-8421-AEE40868E4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514975"/>
            <a:ext cx="3143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8E0B2D"/>
                </a:solidFill>
              </a:defRPr>
            </a:pPr>
            <a:r>
              <a:rPr sz="1050" b="1">
                <a:solidFill>
                  <a:srgbClr val="8E0B2D"/>
                </a:solidFill>
              </a:rPr>
              <a:t>DEMO EVIDENCE</a:t>
            </a:r>
          </a:p>
        </p:txBody>
      </p:sp>
      <p:sp>
        <p:nvSpPr>
          <p:cNvPr id="45" name="demo-boundary-copy">
            <a:extLst xmlns:a="http://schemas.openxmlformats.org/drawingml/2006/main">
              <a:ext uri="{FF2B5EF4-FFF2-40B4-BE49-F238E27FC236}">
                <a16:creationId xmlns:a16="http://schemas.microsoft.com/office/drawing/2014/main" id="{C200085E-9D22-420B-B91D-F4F7F32549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781675"/>
            <a:ext cx="3143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91B1A"/>
                </a:solidFill>
              </a:defRPr>
            </a:pPr>
            <a:r>
              <a:rPr sz="1125" b="0">
                <a:solidFill>
                  <a:srgbClr val="191B1A"/>
                </a:solidFill>
              </a:rPr>
              <a:t>Fictional image and deterministic values. The demo writes no attendance records.</a:t>
            </a:r>
          </a:p>
        </p:txBody>
      </p:sp>
      <p:sp>
        <p:nvSpPr>
          <p:cNvPr id="46" name="boundary-divider-1">
            <a:extLst xmlns:a="http://schemas.openxmlformats.org/drawingml/2006/main">
              <a:ext uri="{FF2B5EF4-FFF2-40B4-BE49-F238E27FC236}">
                <a16:creationId xmlns:a16="http://schemas.microsoft.com/office/drawing/2014/main" id="{5A89BCE0-F339-4503-B93A-6F12EF6372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3800" y="5514975"/>
            <a:ext cx="0" cy="71437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C9CBC8"/>
            </a:solidFill>
            <a:prstDash val="solid"/>
          </a:ln>
        </p:spPr>
      </p:sp>
      <p:sp>
        <p:nvSpPr>
          <p:cNvPr id="47" name="live-boundary-heading">
            <a:extLst xmlns:a="http://schemas.openxmlformats.org/drawingml/2006/main">
              <a:ext uri="{FF2B5EF4-FFF2-40B4-BE49-F238E27FC236}">
                <a16:creationId xmlns:a16="http://schemas.microsoft.com/office/drawing/2014/main" id="{C91FFE4C-36FC-4623-85EF-BA01B9E466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5514975"/>
            <a:ext cx="3143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8E0B2D"/>
                </a:solidFill>
              </a:defRPr>
            </a:pPr>
            <a:r>
              <a:rPr sz="1050" b="1">
                <a:solidFill>
                  <a:srgbClr val="8E0B2D"/>
                </a:solidFill>
              </a:rPr>
              <a:t>LIVE IMPLEMENTATION</a:t>
            </a:r>
          </a:p>
        </p:txBody>
      </p:sp>
      <p:sp>
        <p:nvSpPr>
          <p:cNvPr id="48" name="live-boundary-copy">
            <a:extLst xmlns:a="http://schemas.openxmlformats.org/drawingml/2006/main">
              <a:ext uri="{FF2B5EF4-FFF2-40B4-BE49-F238E27FC236}">
                <a16:creationId xmlns:a16="http://schemas.microsoft.com/office/drawing/2014/main" id="{61543FFF-EC59-4EC7-820B-65A665E339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5781675"/>
            <a:ext cx="3143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91B1A"/>
                </a:solidFill>
              </a:defRPr>
            </a:pPr>
            <a:r>
              <a:rPr sz="1125" b="0">
                <a:solidFill>
                  <a:srgbClr val="191B1A"/>
                </a:solidFill>
              </a:rPr>
              <a:t>Local, consented images; one processing lock; daily SQLite deduplication; cleanup by default.</a:t>
            </a:r>
          </a:p>
        </p:txBody>
      </p:sp>
      <p:sp>
        <p:nvSpPr>
          <p:cNvPr id="49" name="boundary-divider-2">
            <a:extLst xmlns:a="http://schemas.openxmlformats.org/drawingml/2006/main">
              <a:ext uri="{FF2B5EF4-FFF2-40B4-BE49-F238E27FC236}">
                <a16:creationId xmlns:a16="http://schemas.microsoft.com/office/drawing/2014/main" id="{D7181758-CE4B-4822-A175-7996593857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0950" y="5514975"/>
            <a:ext cx="0" cy="71437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C9CBC8"/>
            </a:solidFill>
            <a:prstDash val="solid"/>
          </a:ln>
        </p:spPr>
      </p:sp>
      <p:sp>
        <p:nvSpPr>
          <p:cNvPr id="50" name="claim-boundary-heading">
            <a:extLst xmlns:a="http://schemas.openxmlformats.org/drawingml/2006/main">
              <a:ext uri="{FF2B5EF4-FFF2-40B4-BE49-F238E27FC236}">
                <a16:creationId xmlns:a16="http://schemas.microsoft.com/office/drawing/2014/main" id="{D54B64FE-8AAC-446E-B85F-9A7FE9842E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7650" y="5514975"/>
            <a:ext cx="3143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8E0B2D"/>
                </a:solidFill>
              </a:defRPr>
            </a:pPr>
            <a:r>
              <a:rPr sz="1050" b="1">
                <a:solidFill>
                  <a:srgbClr val="8E0B2D"/>
                </a:solidFill>
              </a:rPr>
              <a:t>NOT CLAIMED</a:t>
            </a:r>
          </a:p>
        </p:txBody>
      </p:sp>
      <p:sp>
        <p:nvSpPr>
          <p:cNvPr id="51" name="claim-boundary-copy">
            <a:extLst xmlns:a="http://schemas.openxmlformats.org/drawingml/2006/main">
              <a:ext uri="{FF2B5EF4-FFF2-40B4-BE49-F238E27FC236}">
                <a16:creationId xmlns:a16="http://schemas.microsoft.com/office/drawing/2014/main" id="{31E41118-63CC-4D16-8C24-000117BE68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7650" y="5781675"/>
            <a:ext cx="3143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91B1A"/>
                </a:solidFill>
              </a:defRPr>
            </a:pPr>
            <a:r>
              <a:rPr sz="1125" b="0">
                <a:solidFill>
                  <a:srgbClr val="191B1A"/>
                </a:solidFill>
              </a:rPr>
              <a:t>No recognition-accuracy study, biometric dataset, surveillance deployment, or outcome evidence.</a:t>
            </a:r>
          </a:p>
        </p:txBody>
      </p:sp>
      <p:sp>
        <p:nvSpPr>
          <p:cNvPr id="52" name="source-note">
            <a:extLst xmlns:a="http://schemas.openxmlformats.org/drawingml/2006/main">
              <a:ext uri="{FF2B5EF4-FFF2-40B4-BE49-F238E27FC236}">
                <a16:creationId xmlns:a16="http://schemas.microsoft.com/office/drawing/2014/main" id="{4D7FBB89-4B50-4722-B583-25500B3A5A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86525"/>
            <a:ext cx="113919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676C69"/>
                </a:solidFill>
              </a:defRPr>
            </a:pPr>
            <a:r>
              <a:rPr sz="900" b="0">
                <a:solidFill>
                  <a:srgbClr val="676C69"/>
                </a:solidFill>
              </a:rPr>
              <a:t>Sources: frontend/src/data/demo.js · src/recognition.py · backend/database/attendance_db.py · backend/fastapi_app.py</a:t>
            </a:r>
          </a:p>
        </p:txBody>
      </p:sp>
    </p:spTree>
    <p:extLst>
      <p:ext uri="{BB962C8B-B14F-4D97-AF65-F5344CB8AC3E}">
        <p14:creationId xmlns:p14="http://schemas.microsoft.com/office/powerpoint/2010/main" val="124709618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2026-07-20T07:24:12.8940000Z</dcterms:created>
  <dcterms:modified xsi:type="dcterms:W3CDTF">2026-07-20T07:24:12.8940000Z</dcterms:modified>
</coreProperties>
</file>